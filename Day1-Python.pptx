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0"/>
  </p:notesMasterIdLst>
  <p:sldIdLst>
    <p:sldId id="256" r:id="rId2"/>
    <p:sldId id="257" r:id="rId3"/>
    <p:sldId id="285" r:id="rId4"/>
    <p:sldId id="286" r:id="rId5"/>
    <p:sldId id="284" r:id="rId6"/>
    <p:sldId id="258" r:id="rId7"/>
    <p:sldId id="259" r:id="rId8"/>
    <p:sldId id="260" r:id="rId9"/>
    <p:sldId id="261" r:id="rId10"/>
    <p:sldId id="264" r:id="rId11"/>
    <p:sldId id="262" r:id="rId12"/>
    <p:sldId id="263" r:id="rId13"/>
    <p:sldId id="265" r:id="rId14"/>
    <p:sldId id="266" r:id="rId15"/>
    <p:sldId id="267" r:id="rId16"/>
    <p:sldId id="268" r:id="rId17"/>
    <p:sldId id="269" r:id="rId18"/>
    <p:sldId id="270" r:id="rId19"/>
    <p:sldId id="272" r:id="rId20"/>
    <p:sldId id="273" r:id="rId21"/>
    <p:sldId id="274" r:id="rId22"/>
    <p:sldId id="276" r:id="rId23"/>
    <p:sldId id="277" r:id="rId24"/>
    <p:sldId id="278" r:id="rId25"/>
    <p:sldId id="279" r:id="rId26"/>
    <p:sldId id="281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2" r:id="rId42"/>
    <p:sldId id="303" r:id="rId43"/>
    <p:sldId id="304" r:id="rId44"/>
    <p:sldId id="305" r:id="rId45"/>
    <p:sldId id="306" r:id="rId46"/>
    <p:sldId id="317" r:id="rId47"/>
    <p:sldId id="318" r:id="rId48"/>
    <p:sldId id="307" r:id="rId49"/>
    <p:sldId id="308" r:id="rId50"/>
    <p:sldId id="319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4F01"/>
    <a:srgbClr val="0039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2" autoAdjust="0"/>
    <p:restoredTop sz="94574" autoAdjust="0"/>
  </p:normalViewPr>
  <p:slideViewPr>
    <p:cSldViewPr>
      <p:cViewPr varScale="1">
        <p:scale>
          <a:sx n="78" d="100"/>
          <a:sy n="78" d="100"/>
        </p:scale>
        <p:origin x="159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643764-0115-4B68-AF33-3CC6B94910C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FD0D2C-D5F6-46FD-9C8A-D19762DB2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272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FD0D2C-D5F6-46FD-9C8A-D19762DB24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17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FD0D2C-D5F6-46FD-9C8A-D19762DB242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726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1066800"/>
            <a:ext cx="5105400" cy="914400"/>
          </a:xfrm>
        </p:spPr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l">
              <a:defRPr sz="4800" b="1" cap="none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/>
                <a:latin typeface="Arial Narrow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0" y="4419600"/>
            <a:ext cx="2819400" cy="1752600"/>
          </a:xfrm>
          <a:ln>
            <a:noFill/>
          </a:ln>
        </p:spPr>
        <p:txBody>
          <a:bodyPr/>
          <a:lstStyle>
            <a:lvl1pPr marL="0" indent="0" algn="ctr">
              <a:buNone/>
              <a:defRPr sz="2400">
                <a:solidFill>
                  <a:srgbClr val="0039AC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allAtOnce">
        <p:tmplLst>
          <p:tmpl lvl="1">
            <p:tnLst>
              <p:par>
                <p:cTn presetID="53" presetClass="entr" presetSubtype="16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2400" y="0"/>
            <a:ext cx="6096000" cy="914400"/>
          </a:xfrm>
        </p:spPr>
        <p:txBody>
          <a:bodyPr/>
          <a:lstStyle>
            <a:lvl1pPr algn="just">
              <a:defRPr sz="2600" b="0">
                <a:latin typeface="+mj-lt"/>
              </a:defRPr>
            </a:lvl1pPr>
          </a:lstStyle>
          <a:p>
            <a:r>
              <a:rPr lang="en-US" dirty="0"/>
              <a:t>Click to edit Master title style        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90600"/>
            <a:ext cx="8991600" cy="5181600"/>
          </a:xfr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 algn="just">
              <a:defRPr sz="2200" b="0">
                <a:latin typeface="+mj-lt"/>
              </a:defRPr>
            </a:lvl1pPr>
            <a:lvl2pPr algn="just">
              <a:defRPr sz="1900" b="0">
                <a:latin typeface="+mj-lt"/>
              </a:defRPr>
            </a:lvl2pPr>
            <a:lvl3pPr algn="just">
              <a:defRPr sz="1700" b="0">
                <a:latin typeface="+mj-lt"/>
              </a:defRPr>
            </a:lvl3pPr>
            <a:lvl4pPr algn="just">
              <a:defRPr sz="1500" b="0">
                <a:latin typeface="+mj-lt"/>
              </a:defRPr>
            </a:lvl4pPr>
            <a:lvl5pPr algn="just">
              <a:defRPr sz="1400" b="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5" animBg="1">
        <p:tmplLst>
          <p:tmpl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7EFEB6-7BA6-4F2B-9B9D-14D43BD07850}" type="datetimeFigureOut">
              <a:rPr lang="en-US"/>
              <a:pPr>
                <a:defRPr/>
              </a:pPr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9E872B-1A9B-4D0A-853A-1D6A4FAB74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02994D-35D0-4861-9A49-613C6D4340DD}" type="datetimeFigureOut">
              <a:rPr lang="en-US"/>
              <a:pPr>
                <a:defRPr/>
              </a:pPr>
              <a:t>10/15/2026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5ED12A-BAB7-4F94-9574-382F8AE3E0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B1524C-425E-482F-A0C6-1D76C45B4FF5}" type="datetimeFigureOut">
              <a:rPr lang="en-US"/>
              <a:pPr>
                <a:defRPr/>
              </a:pPr>
              <a:t>10/15/2026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1C0AA5-F908-4823-8DF7-4923D4CE7F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8C5CC0-68E8-4EEB-8B01-BF6F58B971F8}" type="datetimeFigureOut">
              <a:rPr lang="en-US"/>
              <a:pPr>
                <a:defRPr/>
              </a:pPr>
              <a:t>10/15/2026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EF21E9-F300-4875-BADA-B5D945E31F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C77F36-AB49-459D-A641-2CCD96CA385E}" type="datetimeFigureOut">
              <a:rPr lang="en-US"/>
              <a:pPr>
                <a:defRPr/>
              </a:pPr>
              <a:t>10/15/2026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7761CC-5A3C-4B53-A536-8DCD3AB805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6D0221-BA04-451B-8652-31EDBB1F7977}" type="datetimeFigureOut">
              <a:rPr lang="en-US"/>
              <a:pPr>
                <a:defRPr/>
              </a:pPr>
              <a:t>10/15/2026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A97BCD-A57E-4BC0-A3CB-80F23297A2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631AD1-4995-42FD-9F39-F14A606CC550}" type="datetimeFigureOut">
              <a:rPr lang="en-US"/>
              <a:pPr>
                <a:defRPr/>
              </a:pPr>
              <a:t>10/15/2026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DEAF33-F282-4978-A46B-DA4627C6E9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F66F96-314E-4655-89E2-BB42E000598E}" type="datetimeFigureOut">
              <a:rPr lang="en-US"/>
              <a:pPr>
                <a:defRPr/>
              </a:pPr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B306B-2C4E-4309-926F-0EFDBA723E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041DFD-6FA9-47B6-844C-44A8DE5A5A89}" type="datetimeFigureOut">
              <a:rPr lang="en-US"/>
              <a:pPr>
                <a:defRPr/>
              </a:pPr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2EA591-BB09-4397-80C4-4E3A4529A4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1447298-B64A-4B1E-AB8A-C385224337E5}" type="datetimeFigureOut">
              <a:rPr lang="en-US"/>
              <a:pPr>
                <a:defRPr/>
              </a:pPr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Trapezoid 6"/>
          <p:cNvSpPr/>
          <p:nvPr userDrawn="1"/>
        </p:nvSpPr>
        <p:spPr>
          <a:xfrm flipV="1">
            <a:off x="7010400" y="0"/>
            <a:ext cx="2743200" cy="8382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rapezoid 7"/>
          <p:cNvSpPr/>
          <p:nvPr userDrawn="1"/>
        </p:nvSpPr>
        <p:spPr>
          <a:xfrm>
            <a:off x="-990600" y="0"/>
            <a:ext cx="8382000" cy="8382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3" name="Trapezoid 12"/>
          <p:cNvSpPr/>
          <p:nvPr userDrawn="1"/>
        </p:nvSpPr>
        <p:spPr>
          <a:xfrm flipV="1">
            <a:off x="8649729" y="6324600"/>
            <a:ext cx="16002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Trapezoid 13"/>
          <p:cNvSpPr/>
          <p:nvPr userDrawn="1"/>
        </p:nvSpPr>
        <p:spPr>
          <a:xfrm>
            <a:off x="-990600" y="6324600"/>
            <a:ext cx="96774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043" name="Title Placeholder 1"/>
          <p:cNvSpPr>
            <a:spLocks noGrp="1"/>
          </p:cNvSpPr>
          <p:nvPr>
            <p:ph type="title"/>
          </p:nvPr>
        </p:nvSpPr>
        <p:spPr bwMode="auto">
          <a:xfrm>
            <a:off x="228600" y="111125"/>
            <a:ext cx="6096000" cy="72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4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6200" y="949326"/>
            <a:ext cx="8991600" cy="5283199"/>
          </a:xfrm>
          <a:prstGeom prst="rect">
            <a:avLst/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 kern="1200">
          <a:solidFill>
            <a:srgbClr val="FFFF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FFFF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FFFF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FFFF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FFF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200" b="1" kern="1200">
          <a:solidFill>
            <a:schemeClr val="tx1"/>
          </a:solidFill>
          <a:latin typeface="+mj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900" b="1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400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400" b="1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0949" y="3048000"/>
            <a:ext cx="7042121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4800" b="1" dirty="0">
                <a:ln w="11430"/>
                <a:solidFill>
                  <a:srgbClr val="1B4F01"/>
                </a:solidFill>
              </a:rPr>
              <a:t>Offline and </a:t>
            </a:r>
            <a:r>
              <a:rPr lang="en-US" sz="4800" b="1" cap="none" spc="0" dirty="0">
                <a:ln w="11430"/>
                <a:solidFill>
                  <a:srgbClr val="1B4F01"/>
                </a:solidFill>
              </a:rPr>
              <a:t>Online Training</a:t>
            </a:r>
          </a:p>
        </p:txBody>
      </p:sp>
    </p:spTree>
    <p:extLst>
      <p:ext uri="{BB962C8B-B14F-4D97-AF65-F5344CB8AC3E}">
        <p14:creationId xmlns:p14="http://schemas.microsoft.com/office/powerpoint/2010/main" val="3994458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laid its foundation in the late 1980s.</a:t>
            </a:r>
          </a:p>
          <a:p>
            <a:endParaRPr lang="en-US" dirty="0"/>
          </a:p>
          <a:p>
            <a:r>
              <a:rPr lang="en-US" dirty="0"/>
              <a:t>The implementation of Python was started in December 1989 by </a:t>
            </a:r>
            <a:r>
              <a:rPr lang="en-US" b="1" dirty="0"/>
              <a:t>Guido Van Rossum</a:t>
            </a:r>
            <a:r>
              <a:rPr lang="en-US" dirty="0"/>
              <a:t> at  Netherland.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 February 1991, </a:t>
            </a:r>
            <a:r>
              <a:rPr lang="en-US" b="1" dirty="0"/>
              <a:t>Guido Van Rossum</a:t>
            </a:r>
            <a:r>
              <a:rPr lang="en-US" dirty="0"/>
              <a:t> published the code (labeled version 0.9.0) .</a:t>
            </a:r>
          </a:p>
          <a:p>
            <a:endParaRPr lang="en-US" dirty="0"/>
          </a:p>
          <a:p>
            <a:r>
              <a:rPr lang="en-US" dirty="0"/>
              <a:t>In 1994, Python 1.0 was released with new features like lambda, map, filter, and reduce.</a:t>
            </a:r>
          </a:p>
          <a:p>
            <a:endParaRPr lang="en-US" dirty="0"/>
          </a:p>
          <a:p>
            <a:r>
              <a:rPr lang="en-US" dirty="0"/>
              <a:t>Python 2.0 added new features such as list comprehensions, garbage collection systems.</a:t>
            </a:r>
          </a:p>
        </p:txBody>
      </p:sp>
    </p:spTree>
    <p:extLst>
      <p:ext uri="{BB962C8B-B14F-4D97-AF65-F5344CB8AC3E}">
        <p14:creationId xmlns:p14="http://schemas.microsoft.com/office/powerpoint/2010/main" val="4193058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December 3, 2008, Python 3.0 (also called "Py3K") was released. </a:t>
            </a:r>
          </a:p>
          <a:p>
            <a:endParaRPr lang="en-US" dirty="0"/>
          </a:p>
          <a:p>
            <a:r>
              <a:rPr lang="en-US" dirty="0"/>
              <a:t>It was designed to rectify the fundamental flaw of the language.</a:t>
            </a:r>
          </a:p>
          <a:p>
            <a:endParaRPr lang="en-US" i="1" dirty="0"/>
          </a:p>
          <a:p>
            <a:r>
              <a:rPr lang="en-US" i="1" dirty="0"/>
              <a:t>ABC programming language</a:t>
            </a:r>
            <a:r>
              <a:rPr lang="en-US" dirty="0"/>
              <a:t> is said to be the predecessor of Python language.</a:t>
            </a:r>
          </a:p>
          <a:p>
            <a:r>
              <a:rPr lang="en-US" dirty="0"/>
              <a:t>The following programming languages influence Python:</a:t>
            </a:r>
          </a:p>
          <a:p>
            <a:pPr lvl="1"/>
            <a:r>
              <a:rPr lang="en-US" dirty="0"/>
              <a:t>ABC language.</a:t>
            </a:r>
          </a:p>
          <a:p>
            <a:pPr lvl="1"/>
            <a:r>
              <a:rPr lang="en-US" dirty="0"/>
              <a:t>Modula-3</a:t>
            </a:r>
          </a:p>
          <a:p>
            <a:pPr lvl="1"/>
            <a:r>
              <a:rPr lang="en-US" dirty="0"/>
              <a:t>C language</a:t>
            </a:r>
          </a:p>
        </p:txBody>
      </p:sp>
    </p:spTree>
    <p:extLst>
      <p:ext uri="{BB962C8B-B14F-4D97-AF65-F5344CB8AC3E}">
        <p14:creationId xmlns:p14="http://schemas.microsoft.com/office/powerpoint/2010/main" val="1261302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Guido van Rossum | Creator of Python - YouTub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052512"/>
            <a:ext cx="8991600" cy="505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4093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Python 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is a  high level programming language. </a:t>
            </a:r>
          </a:p>
          <a:p>
            <a:r>
              <a:rPr lang="en-US" dirty="0"/>
              <a:t>Python is a general-purpose.</a:t>
            </a:r>
          </a:p>
          <a:p>
            <a:r>
              <a:rPr lang="en-US" dirty="0"/>
              <a:t>Python is an object-oriented programming language(OOPS).</a:t>
            </a:r>
          </a:p>
          <a:p>
            <a:r>
              <a:rPr lang="en-US" dirty="0"/>
              <a:t>Python is a case sensitive language.</a:t>
            </a:r>
          </a:p>
          <a:p>
            <a:r>
              <a:rPr lang="en-US" dirty="0"/>
              <a:t>Python is free source.</a:t>
            </a:r>
          </a:p>
          <a:p>
            <a:r>
              <a:rPr lang="en-US" b="1" dirty="0"/>
              <a:t>Python is a dynamically typed language.</a:t>
            </a:r>
          </a:p>
          <a:p>
            <a:r>
              <a:rPr lang="en-US" dirty="0"/>
              <a:t>Python is a Portable.</a:t>
            </a:r>
          </a:p>
          <a:p>
            <a:r>
              <a:rPr lang="en-US" dirty="0"/>
              <a:t>Python is a  interpreted language.</a:t>
            </a:r>
          </a:p>
          <a:p>
            <a:r>
              <a:rPr lang="en-US" dirty="0"/>
              <a:t>Python is  a simple programming language.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296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can be used to develop </a:t>
            </a:r>
            <a:r>
              <a:rPr lang="en-US" b="1" dirty="0"/>
              <a:t>software applications.</a:t>
            </a:r>
          </a:p>
          <a:p>
            <a:r>
              <a:rPr lang="en-US" dirty="0"/>
              <a:t>Python can be  used to develop </a:t>
            </a:r>
            <a:r>
              <a:rPr lang="en-US" b="1" dirty="0"/>
              <a:t>web application.</a:t>
            </a:r>
          </a:p>
          <a:p>
            <a:r>
              <a:rPr lang="en-US" dirty="0"/>
              <a:t>Python can be used to Develop </a:t>
            </a:r>
            <a:r>
              <a:rPr lang="en-US" b="1" dirty="0"/>
              <a:t>AI and ML application.</a:t>
            </a:r>
          </a:p>
          <a:p>
            <a:r>
              <a:rPr lang="en-US" dirty="0"/>
              <a:t>Python can be used to Develop </a:t>
            </a:r>
            <a:r>
              <a:rPr lang="en-US" b="1" dirty="0"/>
              <a:t>Data Science application.</a:t>
            </a:r>
          </a:p>
          <a:p>
            <a:r>
              <a:rPr lang="en-US" b="1" dirty="0"/>
              <a:t>Python has  Large Standard Library.</a:t>
            </a:r>
          </a:p>
          <a:p>
            <a:r>
              <a:rPr lang="en-US" b="1" dirty="0"/>
              <a:t>It can be easily integrated with languages like C, C++, JAVA etc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726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Instagram</a:t>
            </a:r>
          </a:p>
          <a:p>
            <a:r>
              <a:rPr lang="en-US" b="1" dirty="0"/>
              <a:t>Google</a:t>
            </a:r>
          </a:p>
          <a:p>
            <a:r>
              <a:rPr lang="en-US" b="1" dirty="0"/>
              <a:t>You tube</a:t>
            </a:r>
          </a:p>
          <a:p>
            <a:r>
              <a:rPr lang="en-US" b="1" dirty="0"/>
              <a:t>Spotify</a:t>
            </a:r>
          </a:p>
          <a:p>
            <a:r>
              <a:rPr lang="en-US" b="1" dirty="0"/>
              <a:t>Netflix</a:t>
            </a:r>
          </a:p>
          <a:p>
            <a:r>
              <a:rPr lang="en-US" b="1" dirty="0"/>
              <a:t>Uber</a:t>
            </a:r>
          </a:p>
          <a:p>
            <a:r>
              <a:rPr lang="en-US" dirty="0"/>
              <a:t>Dropbox</a:t>
            </a:r>
          </a:p>
          <a:p>
            <a:r>
              <a:rPr lang="en-US" dirty="0"/>
              <a:t>Pinterest</a:t>
            </a:r>
          </a:p>
          <a:p>
            <a:r>
              <a:rPr lang="en-US" dirty="0"/>
              <a:t>NASA  </a:t>
            </a:r>
            <a:r>
              <a:rPr lang="en-US" dirty="0" err="1"/>
              <a:t>etc</a:t>
            </a:r>
            <a:r>
              <a:rPr lang="en-US" dirty="0"/>
              <a:t>….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251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6096000" cy="914400"/>
          </a:xfrm>
        </p:spPr>
        <p:txBody>
          <a:bodyPr/>
          <a:lstStyle/>
          <a:p>
            <a:r>
              <a:rPr lang="en-US" dirty="0"/>
              <a:t>Version of python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2555"/>
            <a:ext cx="9144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136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685925"/>
            <a:ext cx="8839200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871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Installation</a:t>
            </a:r>
          </a:p>
        </p:txBody>
      </p:sp>
      <p:pic>
        <p:nvPicPr>
          <p:cNvPr id="3074" name="Picture 2" descr="Software Installation HD Stock Images | Shutterstock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15" b="7490"/>
          <a:stretch/>
        </p:blipFill>
        <p:spPr bwMode="auto">
          <a:xfrm>
            <a:off x="2362200" y="2669060"/>
            <a:ext cx="4953000" cy="2360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8561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200"/>
            <a:ext cx="914400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207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200"/>
            <a:ext cx="9144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025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200"/>
            <a:ext cx="9144000" cy="5486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 bwMode="auto">
          <a:xfrm>
            <a:off x="2209800" y="2057400"/>
            <a:ext cx="685800" cy="304800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wrap="none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231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200"/>
            <a:ext cx="9144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977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200"/>
            <a:ext cx="9144000" cy="5486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 bwMode="auto">
          <a:xfrm>
            <a:off x="3962400" y="2819400"/>
            <a:ext cx="609600" cy="228600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wrap="none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680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200"/>
            <a:ext cx="9144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356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200"/>
            <a:ext cx="9144000" cy="5486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 bwMode="auto">
          <a:xfrm>
            <a:off x="1371600" y="5105400"/>
            <a:ext cx="1524000" cy="228600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wrap="none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995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200"/>
            <a:ext cx="9144000" cy="5486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 bwMode="auto">
          <a:xfrm>
            <a:off x="3581400" y="2895600"/>
            <a:ext cx="2819400" cy="685800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wrap="none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050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200"/>
            <a:ext cx="9144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063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200"/>
            <a:ext cx="9144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5123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200"/>
            <a:ext cx="9144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9202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200"/>
            <a:ext cx="9144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3018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200"/>
            <a:ext cx="9144000" cy="5486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 bwMode="auto">
          <a:xfrm>
            <a:off x="6172200" y="4572000"/>
            <a:ext cx="762000" cy="304800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wrap="none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291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200"/>
            <a:ext cx="9144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9250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200"/>
            <a:ext cx="9144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9397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200"/>
            <a:ext cx="9144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5517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362200"/>
            <a:ext cx="7315200" cy="1752600"/>
          </a:xfrm>
        </p:spPr>
        <p:txBody>
          <a:bodyPr/>
          <a:lstStyle/>
          <a:p>
            <a:pPr algn="ctr"/>
            <a:r>
              <a:rPr lang="en-US" dirty="0"/>
              <a:t>Execution Environments  </a:t>
            </a:r>
            <a:br>
              <a:rPr lang="en-US" dirty="0"/>
            </a:br>
            <a:r>
              <a:rPr lang="en-US" dirty="0"/>
              <a:t>of </a:t>
            </a:r>
            <a:br>
              <a:rPr lang="en-US" dirty="0"/>
            </a:br>
            <a:r>
              <a:rPr lang="en-US" dirty="0"/>
              <a:t>Python</a:t>
            </a:r>
          </a:p>
        </p:txBody>
      </p:sp>
    </p:spTree>
    <p:extLst>
      <p:ext uri="{BB962C8B-B14F-4D97-AF65-F5344CB8AC3E}">
        <p14:creationId xmlns:p14="http://schemas.microsoft.com/office/powerpoint/2010/main" val="10036880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of the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programing can be executed using</a:t>
            </a:r>
          </a:p>
          <a:p>
            <a:r>
              <a:rPr lang="en-US" dirty="0"/>
              <a:t>Python command line</a:t>
            </a:r>
          </a:p>
          <a:p>
            <a:r>
              <a:rPr lang="en-US" dirty="0"/>
              <a:t>IDLE</a:t>
            </a:r>
          </a:p>
          <a:p>
            <a:r>
              <a:rPr lang="en-US" dirty="0" err="1"/>
              <a:t>Pycharm</a:t>
            </a:r>
            <a:r>
              <a:rPr lang="en-US" dirty="0"/>
              <a:t> IDE</a:t>
            </a:r>
          </a:p>
          <a:p>
            <a:r>
              <a:rPr lang="en-US" dirty="0" err="1"/>
              <a:t>Pydev</a:t>
            </a:r>
            <a:endParaRPr lang="en-US" dirty="0"/>
          </a:p>
          <a:p>
            <a:r>
              <a:rPr lang="en-US" dirty="0"/>
              <a:t>Wing IDE</a:t>
            </a:r>
          </a:p>
          <a:p>
            <a:r>
              <a:rPr lang="en-US" dirty="0" err="1"/>
              <a:t>Spyder</a:t>
            </a:r>
            <a:r>
              <a:rPr lang="en-US" dirty="0"/>
              <a:t> etc..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381000" y="1447800"/>
            <a:ext cx="2819400" cy="762000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  <a:round/>
            <a:headEnd/>
            <a:tailEnd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wrap="none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150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200"/>
            <a:ext cx="9144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5862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200"/>
            <a:ext cx="9144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4794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200"/>
            <a:ext cx="9144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6071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200"/>
            <a:ext cx="9144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0256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200"/>
            <a:ext cx="9144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2969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200"/>
            <a:ext cx="9144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3006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2600" y="2590800"/>
            <a:ext cx="5105400" cy="914400"/>
          </a:xfrm>
        </p:spPr>
        <p:txBody>
          <a:bodyPr/>
          <a:lstStyle/>
          <a:p>
            <a:pPr algn="ctr"/>
            <a:r>
              <a:rPr lang="en-US" dirty="0"/>
              <a:t>Execution using IDLE</a:t>
            </a:r>
          </a:p>
        </p:txBody>
      </p:sp>
    </p:spTree>
    <p:extLst>
      <p:ext uri="{BB962C8B-B14F-4D97-AF65-F5344CB8AC3E}">
        <p14:creationId xmlns:p14="http://schemas.microsoft.com/office/powerpoint/2010/main" val="38525130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200"/>
            <a:ext cx="9144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9012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200"/>
            <a:ext cx="9144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1105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200"/>
            <a:ext cx="9144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550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200"/>
            <a:ext cx="9144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5069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200"/>
            <a:ext cx="9144000" cy="54864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-76200" y="1371600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Print</a:t>
            </a:r>
            <a:r>
              <a:rPr lang="en-US" dirty="0"/>
              <a:t>(‘</a:t>
            </a:r>
            <a:r>
              <a:rPr lang="en-US" dirty="0">
                <a:solidFill>
                  <a:srgbClr val="1B4F01"/>
                </a:solidFill>
              </a:rPr>
              <a:t>welcome to Python programming</a:t>
            </a:r>
            <a:r>
              <a:rPr lang="en-US" dirty="0"/>
              <a:t>’)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76200" y="1676400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Print</a:t>
            </a:r>
            <a:r>
              <a:rPr lang="en-US" dirty="0"/>
              <a:t>(‘</a:t>
            </a:r>
            <a:r>
              <a:rPr lang="en-US" dirty="0">
                <a:solidFill>
                  <a:srgbClr val="1B4F01"/>
                </a:solidFill>
              </a:rPr>
              <a:t>Hi this IDLE Environment</a:t>
            </a:r>
            <a:r>
              <a:rPr lang="en-US" dirty="0"/>
              <a:t>’)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76200" y="1981200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Print</a:t>
            </a:r>
            <a:r>
              <a:rPr lang="en-US" dirty="0"/>
              <a:t>(‘</a:t>
            </a:r>
            <a:r>
              <a:rPr lang="en-US" dirty="0">
                <a:solidFill>
                  <a:srgbClr val="1B4F01"/>
                </a:solidFill>
              </a:rPr>
              <a:t>Welcome to all</a:t>
            </a:r>
            <a:r>
              <a:rPr lang="en-US" dirty="0"/>
              <a:t>’)</a:t>
            </a:r>
          </a:p>
        </p:txBody>
      </p:sp>
    </p:spTree>
    <p:extLst>
      <p:ext uri="{BB962C8B-B14F-4D97-AF65-F5344CB8AC3E}">
        <p14:creationId xmlns:p14="http://schemas.microsoft.com/office/powerpoint/2010/main" val="442156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200"/>
            <a:ext cx="9144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5347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200"/>
            <a:ext cx="9144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4521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200"/>
            <a:ext cx="9144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4754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24"/>
          <a:stretch/>
        </p:blipFill>
        <p:spPr bwMode="auto">
          <a:xfrm>
            <a:off x="87012" y="914400"/>
            <a:ext cx="8904588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52520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Comments can be used to explain Python code.</a:t>
            </a:r>
          </a:p>
          <a:p>
            <a:r>
              <a:rPr lang="en-US" dirty="0"/>
              <a:t>Comments can be used to make the code more readable.</a:t>
            </a:r>
          </a:p>
          <a:p>
            <a:r>
              <a:rPr lang="en-US" dirty="0"/>
              <a:t>#</a:t>
            </a:r>
            <a:r>
              <a:rPr lang="en-US" dirty="0">
                <a:sym typeface="Wingdings" pitchFamily="2" charset="2"/>
              </a:rPr>
              <a:t> can be used to comment the python coding .</a:t>
            </a:r>
          </a:p>
          <a:p>
            <a:r>
              <a:rPr lang="en-US" dirty="0">
                <a:sym typeface="Wingdings" pitchFamily="2" charset="2"/>
              </a:rPr>
              <a:t>‘’’  ‘’’ can be used form multiline comment.</a:t>
            </a:r>
          </a:p>
          <a:p>
            <a:endParaRPr lang="en-US" dirty="0">
              <a:sym typeface="Wingdings" pitchFamily="2" charset="2"/>
            </a:endParaRPr>
          </a:p>
          <a:p>
            <a:endParaRPr lang="en-US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496347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9C695-BEBE-607C-C171-3E4C8667E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Python Keywords (Python 3.12+)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C9F1E-58DA-7A33-26E6-A94891E09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Python, </a:t>
            </a:r>
            <a:r>
              <a:rPr lang="en-IN" b="1" dirty="0"/>
              <a:t>keywords</a:t>
            </a:r>
            <a:r>
              <a:rPr lang="en-IN" dirty="0"/>
              <a:t> are reserved words that have special meanings and cannot be used as identifiers (such as variable names, function names, or class names).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False      await      else       import     pass</a:t>
            </a:r>
          </a:p>
          <a:p>
            <a:pPr marL="457200" lvl="1" indent="0">
              <a:buNone/>
            </a:pPr>
            <a:r>
              <a:rPr lang="en-US" dirty="0"/>
              <a:t>None       break      except     in         raise</a:t>
            </a:r>
          </a:p>
          <a:p>
            <a:pPr marL="457200" lvl="1" indent="0">
              <a:buNone/>
            </a:pPr>
            <a:r>
              <a:rPr lang="en-US" dirty="0"/>
              <a:t>True       class      finally    is         return</a:t>
            </a:r>
          </a:p>
          <a:p>
            <a:pPr marL="457200" lvl="1" indent="0">
              <a:buNone/>
            </a:pPr>
            <a:r>
              <a:rPr lang="en-US" dirty="0"/>
              <a:t>and        continue   for        lambda     try</a:t>
            </a:r>
          </a:p>
          <a:p>
            <a:pPr marL="457200" lvl="1" indent="0">
              <a:buNone/>
            </a:pPr>
            <a:r>
              <a:rPr lang="en-US" dirty="0"/>
              <a:t>as         def        from       nonlocal   while</a:t>
            </a:r>
          </a:p>
          <a:p>
            <a:pPr marL="457200" lvl="1" indent="0">
              <a:buNone/>
            </a:pPr>
            <a:r>
              <a:rPr lang="en-US" dirty="0"/>
              <a:t>assert     del        global     not        with</a:t>
            </a:r>
          </a:p>
          <a:p>
            <a:pPr marL="457200" lvl="1" indent="0">
              <a:buNone/>
            </a:pPr>
            <a:r>
              <a:rPr lang="en-US" dirty="0"/>
              <a:t>async      </a:t>
            </a:r>
            <a:r>
              <a:rPr lang="en-US" dirty="0" err="1"/>
              <a:t>elif</a:t>
            </a:r>
            <a:r>
              <a:rPr lang="en-US" dirty="0"/>
              <a:t>       if         or         yield</a:t>
            </a:r>
          </a:p>
          <a:p>
            <a:pPr marL="457200" lvl="1" indent="0">
              <a:buNone/>
            </a:pPr>
            <a:r>
              <a:rPr lang="en-US" dirty="0"/>
              <a:t>match      case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51697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E95DC-B58C-DD0C-BE8A-CD222D7C5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Reserved keywords</a:t>
            </a:r>
            <a:endParaRPr lang="en-IN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A0E1B8DF-17A3-7847-484E-D7E83087A55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200" y="1569720"/>
          <a:ext cx="8991600" cy="4023360"/>
        </p:xfrm>
        <a:graphic>
          <a:graphicData uri="http://schemas.openxmlformats.org/drawingml/2006/table">
            <a:tbl>
              <a:tblPr/>
              <a:tblGrid>
                <a:gridCol w="4495800">
                  <a:extLst>
                    <a:ext uri="{9D8B030D-6E8A-4147-A177-3AD203B41FA5}">
                      <a16:colId xmlns:a16="http://schemas.microsoft.com/office/drawing/2014/main" val="3931819799"/>
                    </a:ext>
                  </a:extLst>
                </a:gridCol>
                <a:gridCol w="4495800">
                  <a:extLst>
                    <a:ext uri="{9D8B030D-6E8A-4147-A177-3AD203B41FA5}">
                      <a16:colId xmlns:a16="http://schemas.microsoft.com/office/drawing/2014/main" val="41501607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3047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Boolean Values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True</a:t>
                      </a:r>
                      <a:r>
                        <a:rPr lang="en-IN"/>
                        <a:t>,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False</a:t>
                      </a:r>
                      <a:r>
                        <a:rPr lang="en-IN"/>
                        <a:t>,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None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1773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Conditional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en-IN"/>
                        <a:t>,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elif</a:t>
                      </a:r>
                      <a:r>
                        <a:rPr lang="en-IN"/>
                        <a:t>,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else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2182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Loops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en-IN"/>
                        <a:t>,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while</a:t>
                      </a:r>
                      <a:r>
                        <a:rPr lang="en-IN"/>
                        <a:t>,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break</a:t>
                      </a:r>
                      <a:r>
                        <a:rPr lang="en-IN"/>
                        <a:t>,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continue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067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Exception Handling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try</a:t>
                      </a:r>
                      <a:r>
                        <a:rPr lang="en-IN"/>
                        <a:t>,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except</a:t>
                      </a:r>
                      <a:r>
                        <a:rPr lang="en-IN"/>
                        <a:t>,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finally</a:t>
                      </a:r>
                      <a:r>
                        <a:rPr lang="en-IN"/>
                        <a:t>,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raise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178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Logical Operators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and</a:t>
                      </a:r>
                      <a:r>
                        <a:rPr lang="en-IN" dirty="0"/>
                        <a:t>, 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or</a:t>
                      </a:r>
                      <a:r>
                        <a:rPr lang="en-IN" dirty="0"/>
                        <a:t>, 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not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6105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Function &amp; 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en-IN"/>
                        <a:t>,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en-IN"/>
                        <a:t>,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return</a:t>
                      </a:r>
                      <a:r>
                        <a:rPr lang="en-IN"/>
                        <a:t>,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lambda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5091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Importing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en-IN"/>
                        <a:t>,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from</a:t>
                      </a:r>
                      <a:r>
                        <a:rPr lang="en-IN"/>
                        <a:t>,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as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374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Context 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with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970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Async Programming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async</a:t>
                      </a:r>
                      <a:r>
                        <a:rPr lang="en-IN"/>
                        <a:t>,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await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959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Pattern Matching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match</a:t>
                      </a:r>
                      <a:r>
                        <a:rPr lang="en-IN" dirty="0"/>
                        <a:t>, 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case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3673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55072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956486" y="2971800"/>
            <a:ext cx="5105400" cy="914400"/>
          </a:xfrm>
        </p:spPr>
        <p:txBody>
          <a:bodyPr/>
          <a:lstStyle/>
          <a:p>
            <a:pPr algn="ctr"/>
            <a:r>
              <a:rPr lang="en-US" dirty="0"/>
              <a:t>Data Types</a:t>
            </a:r>
          </a:p>
        </p:txBody>
      </p:sp>
    </p:spTree>
    <p:extLst>
      <p:ext uri="{BB962C8B-B14F-4D97-AF65-F5344CB8AC3E}">
        <p14:creationId xmlns:p14="http://schemas.microsoft.com/office/powerpoint/2010/main" val="5132120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 Type	       :	string</a:t>
            </a:r>
          </a:p>
          <a:p>
            <a:r>
              <a:rPr lang="en-US" dirty="0"/>
              <a:t>Numeric Types    :	</a:t>
            </a:r>
            <a:r>
              <a:rPr lang="en-US" dirty="0" err="1"/>
              <a:t>int</a:t>
            </a:r>
            <a:r>
              <a:rPr lang="en-US" dirty="0"/>
              <a:t>, float, complex</a:t>
            </a:r>
          </a:p>
          <a:p>
            <a:r>
              <a:rPr lang="en-US" dirty="0"/>
              <a:t>Sequence Types  :	list, tuple, range</a:t>
            </a:r>
          </a:p>
          <a:p>
            <a:r>
              <a:rPr lang="en-US" dirty="0"/>
              <a:t>Mapping Type     :	</a:t>
            </a:r>
            <a:r>
              <a:rPr lang="en-US" dirty="0" err="1"/>
              <a:t>dict</a:t>
            </a:r>
            <a:endParaRPr lang="en-US" dirty="0"/>
          </a:p>
          <a:p>
            <a:r>
              <a:rPr lang="en-US" dirty="0"/>
              <a:t>Set Types             :	set, </a:t>
            </a:r>
            <a:r>
              <a:rPr lang="en-US" dirty="0" err="1"/>
              <a:t>frozenset</a:t>
            </a:r>
            <a:endParaRPr lang="en-US" dirty="0"/>
          </a:p>
          <a:p>
            <a:r>
              <a:rPr lang="en-US" dirty="0"/>
              <a:t>Boolean Type      :	bool</a:t>
            </a:r>
          </a:p>
          <a:p>
            <a:r>
              <a:rPr lang="en-US" dirty="0"/>
              <a:t>Binary Types       :	bytes, </a:t>
            </a:r>
            <a:r>
              <a:rPr lang="en-US" dirty="0" err="1"/>
              <a:t>bytearray</a:t>
            </a:r>
            <a:r>
              <a:rPr lang="en-US" dirty="0"/>
              <a:t>, </a:t>
            </a:r>
            <a:r>
              <a:rPr lang="en-US" dirty="0" err="1"/>
              <a:t>memoryview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9739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91E6C-BE9C-3CF5-436E-26147EDA8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	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8F144-4977-8BB5-0324-B689F9387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Variables which can stores the data</a:t>
            </a:r>
          </a:p>
          <a:p>
            <a:r>
              <a:rPr lang="en-US" dirty="0"/>
              <a:t>Variable names must be written lower case , can’t start with number</a:t>
            </a:r>
          </a:p>
          <a:p>
            <a:r>
              <a:rPr lang="en-US" dirty="0"/>
              <a:t>Num, copy, name,</a:t>
            </a:r>
          </a:p>
          <a:p>
            <a:r>
              <a:rPr lang="en-US" dirty="0" err="1"/>
              <a:t>Faname</a:t>
            </a:r>
            <a:r>
              <a:rPr lang="en-US" dirty="0"/>
              <a:t>, </a:t>
            </a:r>
            <a:r>
              <a:rPr lang="en-US" dirty="0" err="1"/>
              <a:t>lname</a:t>
            </a:r>
            <a:r>
              <a:rPr lang="en-US" dirty="0"/>
              <a:t>, </a:t>
            </a:r>
            <a:r>
              <a:rPr lang="en-US" dirty="0" err="1"/>
              <a:t>mname</a:t>
            </a:r>
            <a:r>
              <a:rPr lang="en-US" dirty="0"/>
              <a:t>, gen</a:t>
            </a:r>
          </a:p>
          <a:p>
            <a:r>
              <a:rPr lang="en-US" dirty="0" err="1"/>
              <a:t>first_name</a:t>
            </a:r>
            <a:r>
              <a:rPr lang="en-US" dirty="0"/>
              <a:t>    </a:t>
            </a:r>
          </a:p>
          <a:p>
            <a:r>
              <a:rPr lang="en-US" dirty="0"/>
              <a:t>=====================</a:t>
            </a:r>
          </a:p>
          <a:p>
            <a:r>
              <a:rPr lang="en-US" dirty="0" err="1"/>
              <a:t>Snakecase</a:t>
            </a:r>
            <a:r>
              <a:rPr lang="en-US" dirty="0"/>
              <a:t> naming ,  camelCase</a:t>
            </a:r>
          </a:p>
          <a:p>
            <a:r>
              <a:rPr lang="en-US" dirty="0" err="1"/>
              <a:t>firstName</a:t>
            </a:r>
            <a:r>
              <a:rPr lang="en-US" dirty="0"/>
              <a:t>  </a:t>
            </a:r>
          </a:p>
          <a:p>
            <a:r>
              <a:rPr lang="en-US" dirty="0"/>
              <a:t>FirstName   Pascal naming </a:t>
            </a:r>
            <a:r>
              <a:rPr lang="en-US" dirty="0" err="1"/>
              <a:t>convtion</a:t>
            </a:r>
            <a:endParaRPr lang="en-US" dirty="0"/>
          </a:p>
          <a:p>
            <a:r>
              <a:rPr lang="en-US" dirty="0"/>
              <a:t>Meaningful names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06930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X = 10</a:t>
            </a:r>
          </a:p>
          <a:p>
            <a:r>
              <a:rPr lang="en-US" dirty="0"/>
              <a:t>Y = 20</a:t>
            </a:r>
          </a:p>
          <a:p>
            <a:r>
              <a:rPr lang="en-US" dirty="0"/>
              <a:t>D = 5.6</a:t>
            </a:r>
          </a:p>
          <a:p>
            <a:r>
              <a:rPr lang="en-US" dirty="0"/>
              <a:t>F = ‘</a:t>
            </a:r>
            <a:r>
              <a:rPr lang="en-US" dirty="0" err="1"/>
              <a:t>ou</a:t>
            </a:r>
            <a:r>
              <a:rPr lang="en-US" dirty="0"/>
              <a:t>’</a:t>
            </a:r>
          </a:p>
          <a:p>
            <a:r>
              <a:rPr lang="en-US" dirty="0"/>
              <a:t>E = “</a:t>
            </a:r>
            <a:r>
              <a:rPr lang="en-US" dirty="0" err="1"/>
              <a:t>nexsoft</a:t>
            </a:r>
            <a:r>
              <a:rPr lang="en-US" dirty="0"/>
              <a:t>”</a:t>
            </a:r>
          </a:p>
          <a:p>
            <a:r>
              <a:rPr lang="en-US" dirty="0"/>
              <a:t>J = ‘’’</a:t>
            </a:r>
            <a:r>
              <a:rPr lang="en-US" dirty="0" err="1"/>
              <a:t>Trainin</a:t>
            </a:r>
            <a:r>
              <a:rPr lang="en-US" dirty="0"/>
              <a:t>’’’</a:t>
            </a:r>
          </a:p>
        </p:txBody>
      </p:sp>
    </p:spTree>
    <p:extLst>
      <p:ext uri="{BB962C8B-B14F-4D97-AF65-F5344CB8AC3E}">
        <p14:creationId xmlns:p14="http://schemas.microsoft.com/office/powerpoint/2010/main" val="25491792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Arithmetic operators</a:t>
            </a:r>
          </a:p>
          <a:p>
            <a:r>
              <a:rPr lang="en-US" b="1" dirty="0"/>
              <a:t>Assignment operators</a:t>
            </a:r>
          </a:p>
          <a:p>
            <a:r>
              <a:rPr lang="en-US" b="1" dirty="0"/>
              <a:t>Comparison operators(Relational </a:t>
            </a:r>
            <a:r>
              <a:rPr lang="en-US" b="1" dirty="0" err="1"/>
              <a:t>Opeators</a:t>
            </a:r>
            <a:r>
              <a:rPr lang="en-US" b="1" dirty="0"/>
              <a:t>)</a:t>
            </a:r>
          </a:p>
          <a:p>
            <a:r>
              <a:rPr lang="en-US" b="1" dirty="0"/>
              <a:t>Logical operators</a:t>
            </a:r>
          </a:p>
          <a:p>
            <a:r>
              <a:rPr lang="en-US" b="1" dirty="0"/>
              <a:t>Identity operators</a:t>
            </a:r>
          </a:p>
          <a:p>
            <a:r>
              <a:rPr lang="en-US" b="1" dirty="0"/>
              <a:t>Membership operators</a:t>
            </a:r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3412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Arithmetic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Operator	  Name		Example</a:t>
            </a:r>
          </a:p>
          <a:p>
            <a:r>
              <a:rPr lang="en-US" dirty="0"/>
              <a:t>+		Addition	 x + y	</a:t>
            </a:r>
          </a:p>
          <a:p>
            <a:r>
              <a:rPr lang="en-US" dirty="0"/>
              <a:t>-		Subtraction	 x - y	</a:t>
            </a:r>
          </a:p>
          <a:p>
            <a:r>
              <a:rPr lang="en-US" dirty="0"/>
              <a:t>*		Multiplication	 x * y	</a:t>
            </a:r>
          </a:p>
          <a:p>
            <a:r>
              <a:rPr lang="en-US" dirty="0"/>
              <a:t>/		Division		 x / y	</a:t>
            </a:r>
          </a:p>
          <a:p>
            <a:r>
              <a:rPr lang="en-US" dirty="0"/>
              <a:t>//		Floor division	 x // y   </a:t>
            </a:r>
          </a:p>
          <a:p>
            <a:r>
              <a:rPr lang="en-US" dirty="0"/>
              <a:t>%		Modulus	 x % y	</a:t>
            </a:r>
          </a:p>
          <a:p>
            <a:r>
              <a:rPr lang="en-US" dirty="0"/>
              <a:t>**		Exponentiation	 x ** y	</a:t>
            </a:r>
          </a:p>
        </p:txBody>
      </p:sp>
    </p:spTree>
    <p:extLst>
      <p:ext uri="{BB962C8B-B14F-4D97-AF65-F5344CB8AC3E}">
        <p14:creationId xmlns:p14="http://schemas.microsoft.com/office/powerpoint/2010/main" val="20041247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Operator	Example	Same </a:t>
            </a:r>
          </a:p>
          <a:p>
            <a:r>
              <a:rPr lang="en-US" dirty="0"/>
              <a:t>=		x = 5		x = 5	</a:t>
            </a:r>
          </a:p>
          <a:p>
            <a:r>
              <a:rPr lang="en-US" dirty="0"/>
              <a:t>+=		x += 3		x = x + 3	</a:t>
            </a:r>
          </a:p>
          <a:p>
            <a:r>
              <a:rPr lang="en-US" dirty="0"/>
              <a:t>-=		x -= 3		x = x - 3	</a:t>
            </a:r>
          </a:p>
          <a:p>
            <a:r>
              <a:rPr lang="en-US" dirty="0"/>
              <a:t>*=		x *= 3		x = x * 3	</a:t>
            </a:r>
          </a:p>
          <a:p>
            <a:r>
              <a:rPr lang="en-US" dirty="0"/>
              <a:t>/=		x /= 3		x = x / 3	</a:t>
            </a:r>
          </a:p>
          <a:p>
            <a:r>
              <a:rPr lang="en-US" dirty="0"/>
              <a:t>%=		x %= 3		x = x % 3	</a:t>
            </a:r>
          </a:p>
          <a:p>
            <a:r>
              <a:rPr lang="en-US" dirty="0"/>
              <a:t>//=		x //= 3		x = x // 3	</a:t>
            </a:r>
          </a:p>
          <a:p>
            <a:r>
              <a:rPr lang="en-US" dirty="0"/>
              <a:t>**=		x **= 3		x = x ** 3	</a:t>
            </a:r>
          </a:p>
        </p:txBody>
      </p:sp>
    </p:spTree>
    <p:extLst>
      <p:ext uri="{BB962C8B-B14F-4D97-AF65-F5344CB8AC3E}">
        <p14:creationId xmlns:p14="http://schemas.microsoft.com/office/powerpoint/2010/main" val="9997628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Comparison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Operator	Name				Example</a:t>
            </a:r>
          </a:p>
          <a:p>
            <a:r>
              <a:rPr lang="en-US" dirty="0"/>
              <a:t>==		Equal				x == y	</a:t>
            </a:r>
          </a:p>
          <a:p>
            <a:r>
              <a:rPr lang="en-US" dirty="0"/>
              <a:t>!=		Not equal			x != y	</a:t>
            </a:r>
          </a:p>
          <a:p>
            <a:r>
              <a:rPr lang="en-US" dirty="0"/>
              <a:t>&gt;		Greater than			x &gt; y	</a:t>
            </a:r>
          </a:p>
          <a:p>
            <a:r>
              <a:rPr lang="en-US" dirty="0"/>
              <a:t>&lt;		Less than			x &lt; y	</a:t>
            </a:r>
          </a:p>
          <a:p>
            <a:r>
              <a:rPr lang="en-US" dirty="0"/>
              <a:t>&gt;=		Greater than or equal to              x &gt;= y	</a:t>
            </a:r>
          </a:p>
          <a:p>
            <a:r>
              <a:rPr lang="en-US" dirty="0"/>
              <a:t>&lt;=		Less than or equal to		x &lt;= y</a:t>
            </a:r>
          </a:p>
        </p:txBody>
      </p:sp>
    </p:spTree>
    <p:extLst>
      <p:ext uri="{BB962C8B-B14F-4D97-AF65-F5344CB8AC3E}">
        <p14:creationId xmlns:p14="http://schemas.microsoft.com/office/powerpoint/2010/main" val="386089078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Logical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/>
              <a:t>Operator	Description			                          Example</a:t>
            </a:r>
            <a:r>
              <a:rPr lang="en-US" sz="2000" dirty="0"/>
              <a:t>	</a:t>
            </a:r>
          </a:p>
          <a:p>
            <a:pPr algn="l"/>
            <a:r>
              <a:rPr lang="en-US" sz="2000" dirty="0"/>
              <a:t>and 		Returns True if both statements are true	</a:t>
            </a:r>
            <a:r>
              <a:rPr lang="en-US" sz="2000"/>
              <a:t>        x </a:t>
            </a:r>
            <a:r>
              <a:rPr lang="en-US" sz="2000" dirty="0"/>
              <a:t>&lt; 5 and  x &lt; 10</a:t>
            </a:r>
          </a:p>
          <a:p>
            <a:r>
              <a:rPr lang="en-US" sz="2000" dirty="0"/>
              <a:t>or		Returns True if one of the statements is true        x &lt; 5 or x &lt; 4</a:t>
            </a:r>
          </a:p>
          <a:p>
            <a:r>
              <a:rPr lang="en-US" sz="2000" dirty="0"/>
              <a:t>not		Returns False if the result is true, false if it is     not(x &lt; 5 and x &lt; 10)</a:t>
            </a:r>
          </a:p>
        </p:txBody>
      </p:sp>
    </p:spTree>
    <p:extLst>
      <p:ext uri="{BB962C8B-B14F-4D97-AF65-F5344CB8AC3E}">
        <p14:creationId xmlns:p14="http://schemas.microsoft.com/office/powerpoint/2010/main" val="259352293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Identity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1" dirty="0"/>
              <a:t>Operator Description					Example</a:t>
            </a:r>
          </a:p>
          <a:p>
            <a:pPr algn="l"/>
            <a:r>
              <a:rPr lang="en-US" dirty="0"/>
              <a:t>is 	        Returns true if both variables are the same object	   x is y</a:t>
            </a:r>
          </a:p>
          <a:p>
            <a:pPr algn="l"/>
            <a:r>
              <a:rPr lang="en-US" dirty="0"/>
              <a:t>is not       Returns true if both variables are not the same object x is not y</a:t>
            </a:r>
          </a:p>
        </p:txBody>
      </p:sp>
    </p:spTree>
    <p:extLst>
      <p:ext uri="{BB962C8B-B14F-4D97-AF65-F5344CB8AC3E}">
        <p14:creationId xmlns:p14="http://schemas.microsoft.com/office/powerpoint/2010/main" val="37640699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Membership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1" dirty="0"/>
              <a:t>Operator Description					Example</a:t>
            </a:r>
          </a:p>
          <a:p>
            <a:pPr algn="l"/>
            <a:r>
              <a:rPr lang="en-US" dirty="0"/>
              <a:t>in 	        Returns true if both variables are the same object	   x in y</a:t>
            </a:r>
          </a:p>
          <a:p>
            <a:pPr algn="l"/>
            <a:r>
              <a:rPr lang="en-US" dirty="0"/>
              <a:t>Not in      Returns true if both variables are not the same object x not in y</a:t>
            </a:r>
          </a:p>
        </p:txBody>
      </p:sp>
    </p:spTree>
    <p:extLst>
      <p:ext uri="{BB962C8B-B14F-4D97-AF65-F5344CB8AC3E}">
        <p14:creationId xmlns:p14="http://schemas.microsoft.com/office/powerpoint/2010/main" val="257684326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38100">
          <a:solidFill>
            <a:srgbClr val="FF0000"/>
          </a:solidFill>
          <a:prstDash val="dash"/>
          <a:round/>
          <a:headEnd/>
          <a:tailEnd/>
        </a:ln>
        <a:effectLst>
          <a:glow rad="101600">
            <a:schemeClr val="accent3">
              <a:satMod val="175000"/>
              <a:alpha val="40000"/>
            </a:schemeClr>
          </a:glow>
        </a:effectLst>
      </a:spPr>
      <a:bodyPr wrap="none" anchor="ctr"/>
      <a:lstStyle>
        <a:defPPr>
          <a:defRPr dirty="0"/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1825</TotalTime>
  <Words>1113</Words>
  <Application>Microsoft Office PowerPoint</Application>
  <PresentationFormat>On-screen Show (4:3)</PresentationFormat>
  <Paragraphs>182</Paragraphs>
  <Slides>58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4" baseType="lpstr">
      <vt:lpstr>Arial</vt:lpstr>
      <vt:lpstr>Arial Narrow</vt:lpstr>
      <vt:lpstr>Calibri</vt:lpstr>
      <vt:lpstr>Courier New</vt:lpstr>
      <vt:lpstr>Wingdings</vt:lpstr>
      <vt:lpstr>1_Office Theme</vt:lpstr>
      <vt:lpstr>Python</vt:lpstr>
      <vt:lpstr>Introduction to Python</vt:lpstr>
      <vt:lpstr>Introduction to Python</vt:lpstr>
      <vt:lpstr>PowerPoint Presentation</vt:lpstr>
      <vt:lpstr>What is Python  ?</vt:lpstr>
      <vt:lpstr>Why python</vt:lpstr>
      <vt:lpstr>Python Applications</vt:lpstr>
      <vt:lpstr>Version of python</vt:lpstr>
      <vt:lpstr>PowerPoint Presentation</vt:lpstr>
      <vt:lpstr>Python Installation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Execution Environments   of  Python</vt:lpstr>
      <vt:lpstr>Execution of the Python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Execution using IDLE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Comments in Python</vt:lpstr>
      <vt:lpstr>Python Keywords (Python 3.12+)</vt:lpstr>
      <vt:lpstr>Reserved keywords</vt:lpstr>
      <vt:lpstr>Data Types</vt:lpstr>
      <vt:lpstr>Data Types</vt:lpstr>
      <vt:lpstr>Variables </vt:lpstr>
      <vt:lpstr>PowerPoint Presentation</vt:lpstr>
      <vt:lpstr>Operators</vt:lpstr>
      <vt:lpstr>Python Arithmetic Operators</vt:lpstr>
      <vt:lpstr>Assignment Operators</vt:lpstr>
      <vt:lpstr>Python Comparison Operators</vt:lpstr>
      <vt:lpstr>Python Logical Operators</vt:lpstr>
      <vt:lpstr>Python Identity Operators</vt:lpstr>
      <vt:lpstr>Python Membership Operators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Technologies</dc:title>
  <dc:creator>USER</dc:creator>
  <cp:lastModifiedBy>arunkumar allam</cp:lastModifiedBy>
  <cp:revision>200</cp:revision>
  <dcterms:created xsi:type="dcterms:W3CDTF">2019-10-03T05:47:56Z</dcterms:created>
  <dcterms:modified xsi:type="dcterms:W3CDTF">2026-10-15T13:41:49Z</dcterms:modified>
</cp:coreProperties>
</file>